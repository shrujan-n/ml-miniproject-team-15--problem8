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DC0F1C-4D6D-4912-B8A6-923FD2170C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4280B1-0BD6-4651-A8A6-E883CA0CFB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52A409-E017-4085-BCFB-EA3C4B75BA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6C8437-7DD0-4B34-A1C4-497FEC1AE9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C19197-6FB0-4927-9E87-9FD558ECAA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545FE2-D4AF-4768-ACDC-203A283ECB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7E6B84-518D-49EB-AC8D-F2A1F42B74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10A20C-1960-4F92-8CFD-07C736FFA4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95B360-E899-476B-9D54-F7DBC5EB4E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576519-4CD7-4E09-B7E2-66B888707C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3C2076-6FAC-4B4B-9FF6-FA1A9448F5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2011680"/>
            <a:ext cx="936396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UE24CS352A — MACHINE LEARNING MINI-PROJECT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Predicting a Decline in Patient Reported Outcomes for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Cancer Patients on Chemotherapy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Problem Statement #8 | Team-15 | SEC 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731520" y="365760"/>
            <a:ext cx="2809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731520" y="640080"/>
            <a:ext cx="20106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INTRODUCTION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8"/>
          <p:cNvSpPr/>
          <p:nvPr/>
        </p:nvSpPr>
        <p:spPr>
          <a:xfrm>
            <a:off x="731520" y="1371600"/>
            <a:ext cx="10788480" cy="4748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Team No. 15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Problem Statement #8: Predicting a Decline in Patient Reported Outcomes for Cancer Patients on Chemotherapy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Section: K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Team Member 1: -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Name: Shrujan N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SRN: PES1UG24CS624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Team Member 2: -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Name: Dhanush S Shekhar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SRN: PES1UG24CS662 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6400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1. Clinical Context &amp; Objective Overview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3"/>
          <p:cNvSpPr/>
          <p:nvPr/>
        </p:nvSpPr>
        <p:spPr>
          <a:xfrm>
            <a:off x="731520" y="1371600"/>
            <a:ext cx="10608480" cy="4748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Chemotherapy causes severe physical adverse effects (fatigue, pain, cognitive slowing).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Clinical blood tests do not measure how patients actually feel day-to-day.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Patient Reported Outcomes (PROs) measure subjective health using PROMIS Global Physical Health (GPH) scores.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GPH score population distribution: Mean = 50, Standard Deviation = 10.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Goal: Predict health decline BEFORE chemotherapy day 1 to enable early supportive interventions.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6400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2. End-to-End Pipeline Architecture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3"/>
          <p:cNvSpPr/>
          <p:nvPr/>
        </p:nvSpPr>
        <p:spPr>
          <a:xfrm>
            <a:off x="731520" y="1828800"/>
            <a:ext cx="2011320" cy="4114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4500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STAGE 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Dataset Generation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1" u="none" strike="noStrike">
                <a:solidFill>
                  <a:srgbClr val="E11D48"/>
                </a:solidFill>
                <a:effectLst/>
                <a:uFillTx/>
                <a:latin typeface="Calibri"/>
              </a:rPr>
              <a:t>generate_dataset.py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Simulates 1,252 patient records with vitals, labs, and targets.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2926080" y="1828800"/>
            <a:ext cx="2011320" cy="4114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4500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STAGE 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Time-Decay Featurizer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1" u="none" strike="noStrike">
                <a:solidFill>
                  <a:srgbClr val="E11D48"/>
                </a:solidFill>
                <a:effectLst/>
                <a:uFillTx/>
                <a:latin typeface="Calibri"/>
              </a:rPr>
              <a:t>featurization.py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Applies w_i = exp(-t/365) and builds KNN &amp; Binned matrices.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5"/>
          <p:cNvSpPr/>
          <p:nvPr/>
        </p:nvSpPr>
        <p:spPr>
          <a:xfrm>
            <a:off x="5120640" y="1828800"/>
            <a:ext cx="2011320" cy="4114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4500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STAGE 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Baseline Models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1" u="none" strike="noStrike">
                <a:solidFill>
                  <a:srgbClr val="E11D48"/>
                </a:solidFill>
                <a:effectLst/>
                <a:uFillTx/>
                <a:latin typeface="Calibri"/>
              </a:rPr>
              <a:t>train_baselines.py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10-Fold CV on LASSO, Ridge, Elastic Net, and KNN.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6"/>
          <p:cNvSpPr/>
          <p:nvPr/>
        </p:nvSpPr>
        <p:spPr>
          <a:xfrm>
            <a:off x="7315200" y="1828800"/>
            <a:ext cx="2011320" cy="4114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4500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STAGE 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Advanced ML Models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1" u="none" strike="noStrike">
                <a:solidFill>
                  <a:srgbClr val="E11D48"/>
                </a:solidFill>
                <a:effectLst/>
                <a:uFillTx/>
                <a:latin typeface="Calibri"/>
              </a:rPr>
              <a:t>train_advanced.py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Trains LightGBM, RF, SVM, and FFNN on 80/20 train/test split.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9509760" y="1828800"/>
            <a:ext cx="2011320" cy="4114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4500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STAGE 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Ablation &amp; ROC Plots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1" u="none" strike="noStrike">
                <a:solidFill>
                  <a:srgbClr val="E11D48"/>
                </a:solidFill>
                <a:effectLst/>
                <a:uFillTx/>
                <a:latin typeface="Calibri"/>
              </a:rPr>
              <a:t>ablation_and_plots.py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Builds Soft-Voting Ensemble, strips features, and plots ROC curves.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6400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PIPELINE STAGE 1: Synthetic Dataset Generation (generate_dataset.py)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540000" y="1371600"/>
            <a:ext cx="10555200" cy="18684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br>
              <a:rPr sz="1400"/>
            </a:br>
            <a:br>
              <a:rPr sz="1400"/>
            </a:br>
            <a:br>
              <a:rPr sz="1400"/>
            </a:b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955800" y="1440000"/>
            <a:ext cx="9844200" cy="16264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0" name="Rounded Rectangle 1"/>
          <p:cNvSpPr/>
          <p:nvPr/>
        </p:nvSpPr>
        <p:spPr>
          <a:xfrm>
            <a:off x="371520" y="3260160"/>
            <a:ext cx="10968480" cy="2859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3716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Step 1 generates our synthetic STARR cohort of 1,252 cancer patients, creating 6 months of pre-chemotherapy clinical history and target outcome labels while preventing data leakage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generate_dataset.py uses numpy.random with seed 42 to create 1,252 patient records.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For each patient, it generates: Baseline PROMIS GPH physical health score (mean = 48.5, std = 9.2).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6 months of historical time-series events (5 to 20 visits per patient) containing 7 vitals, 149 lab tests, 291 procedures, 266 diagnoses, 121 medications, and 5 utilization metrics.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Calculates y_drop (1 if health score drops &gt;= 10 points; 0 otherwise) and y_threshold (1 if health score &lt;= 40; 0 otherwise).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Saves summary data to data/patients_summary.csv and longitudinal data to data/raw_patients_longitudinal.npy.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640080"/>
            <a:ext cx="6702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PIPELINE STAGE 2: Time-Decay Feature (featurization.py)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728280" y="1094040"/>
            <a:ext cx="8091720" cy="19659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br>
              <a:rPr sz="1400"/>
            </a:br>
            <a:br>
              <a:rPr sz="1400"/>
            </a:b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954360" y="1260000"/>
            <a:ext cx="7505640" cy="15235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5" name="Rounded Rectangle 2"/>
          <p:cNvSpPr/>
          <p:nvPr/>
        </p:nvSpPr>
        <p:spPr>
          <a:xfrm>
            <a:off x="281880" y="3240000"/>
            <a:ext cx="11058120" cy="3240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3716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Step 2 converts longitudinal medical records into static feature matrices using exponential time-decay weighting w_i = e^(-t/365). It builds two competing representations: a 933-feature KNN imputed matrix and a 1,367-feature binned matrix.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For every patient, featurization.py calculates an exponentially time-decayed average for every lab test and vital sign: f = sum(w_i * x_i) / sum(w_i), where w_i = exp(-t_i / 365), where t_i is the number of days before chemotherapy start date (t=0).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Matrix 1 (KNN Imputed - 933 Features): Uses KNNImputer(n_neighbors=5) to fill missing lab values based on Euclidean distance across similar patients.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Matrix 2 (Binned Labs - 1,367 Features): Splits lab values into 3 tertile bins (T1, T2, T3) plus a 4th explicit binary indicator variable (is_missing = 1 if missing, 0 if present).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Saves matrices to data/X_knn_933.csv, data/X_binned_1367.csv, and data/y_targets.csv.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Time Decay: A lab test done 2 days before chemotherapy (w approx 1.0) is much more important than a test from 5 months ago (w approx 0.61).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Dual Matrices: Tests whether continuous numerical imputation (KNN) or discrete binning with missingness indicators performs better.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31520" y="6400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PIPELINE STAGE 3: Baseline Models Evaluation (train_baselines.py)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368280" y="1169640"/>
            <a:ext cx="11331720" cy="49503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br>
              <a:rPr sz="1400"/>
            </a:br>
            <a:br>
              <a:rPr sz="1400"/>
            </a:br>
            <a:br>
              <a:rPr sz="1400"/>
            </a:b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1425960" y="1440000"/>
            <a:ext cx="8294040" cy="43131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731520" y="640080"/>
            <a:ext cx="78573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Microsoft YaHei"/>
              </a:rPr>
              <a:t>PIPELINE STAGE 3: </a:t>
            </a: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Baseline Models Evaluation (train_baselines.py)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3"/>
          <p:cNvSpPr/>
          <p:nvPr/>
        </p:nvSpPr>
        <p:spPr>
          <a:xfrm>
            <a:off x="731520" y="1280160"/>
            <a:ext cx="10788480" cy="2679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3716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Step 3 runs 10-fold cross-validation on our baseline models—LASSO, Ridge, Elastic Net, and KNN—using standardized scaling to establish linear benchmark AUROC scores.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Establishes simple linear benchmark scores to determine if complex non-linear models actually improve prediction accuracy.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Uses 10-fold Stratified Cross-Validation (KFold(n_splits=10)).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Inside every fold, StandardScaler() scales training data (mean=0, std=1) and fits 4 baseline models: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1. LASSO (L1): Regularized logistic regression forcing useless feature weights to zero.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2. Ridge (L2): Regularized logistic regression shrinking feature weights smoothly.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3. Elastic Net: Combined L1 + L2 regularized logistic regression.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4. KNN: Distance-based classifier (K=35).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Calculates mean AUROC score across all 10 folds and saves to outputs/baseline_results.csv.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6400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PIPELINE STAGE 4: Advanced ML Models Training (train_advanced.py)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4"/>
          <p:cNvSpPr/>
          <p:nvPr/>
        </p:nvSpPr>
        <p:spPr>
          <a:xfrm>
            <a:off x="731520" y="1094040"/>
            <a:ext cx="10788480" cy="53859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2340000" y="1286280"/>
            <a:ext cx="7380000" cy="50137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31520" y="640080"/>
            <a:ext cx="82576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Microsoft YaHei"/>
              </a:rPr>
              <a:t>PIPELINE STAGE 4: </a:t>
            </a: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Advanced ML Models Training (train_advanced.py)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731520" y="1280160"/>
            <a:ext cx="11148480" cy="3399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3716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Step 4 trains our advanced models—LightGBM, Random Forest, SVM, and Neural Networks—evaluating performance on a held-out test split and saving binary model weights into models/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Non-linear models capture multi-variable clinical interactions (e.g., high blood pressure combined with low kidney function) that linear models miss.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Splits data into an 80% training set and a 20% held-out testing set (train_test_split).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Fits 4 advanced non-linear algorithms: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1. LightGBM: Gradient boosted decision trees built sequentially to minimize log-loss.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2. Random Forest: 400 independent decision trees voting together.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3. SVM: Support Vector Classifier with RBF kernel maximizing hyper-plane decision margins.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4. FFNN: Multi-Layer Perceptron Neural Network (128 -&gt; 32 nodes) with Adam optimizer and early stopping.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Evaluates on held-out test split and serializes trained model objects into models/*.joblib.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Saves output summary to outputs/advanced_results.csv.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731520" y="640080"/>
            <a:ext cx="83286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PIPELINE STAGE 5: Ablation &amp; ROC Generation (ablation_and_plots.py)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4"/>
          <p:cNvSpPr/>
          <p:nvPr/>
        </p:nvSpPr>
        <p:spPr>
          <a:xfrm>
            <a:off x="720000" y="1094040"/>
            <a:ext cx="10968480" cy="50259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1010880" y="1616040"/>
            <a:ext cx="10329120" cy="37839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</a:rPr>
              <a:t>UE24CS352A - MACHINE LEARNING MINI-PROJECT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731520" y="640080"/>
            <a:ext cx="83278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Microsoft YaHei"/>
              </a:rPr>
              <a:t>PIPELINE STAGE 5: </a:t>
            </a: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Ablation &amp; ROC Generation (ablation_and_plots.py)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3"/>
          <p:cNvSpPr/>
          <p:nvPr/>
        </p:nvSpPr>
        <p:spPr>
          <a:xfrm>
            <a:off x="731520" y="1280160"/>
            <a:ext cx="10788480" cy="2859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3716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Step 5 builds our Soft-Voting Ensemble model and performs feature ablation by stripping away feature categories one by one. It proves laboratory histories carry primary predictive signal and renders our ROC curves into outputs/roc_curves.png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Ablation: Proves WHICH feature categories actually drive clinical predictions. Removing Labs caused the biggest drop (AUROC -&gt; 0.9454), proving laboratory trends carry critical diagnostic weight.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1. Selects top constituent models (Logistic + Tree + SVM) to build a Soft-Voting Ensemble.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2. Evaluates full ensemble on test set.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3. Removes one feature group at a time (Demographics, Vitals, Labs, etc.), retrains the ensemble, and measures the change in AUROC (delta AUROC).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4. Renders ROC curves using matplotlib and saves to outputs/roc_curves.png.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cp:lastPrinted>2026-10-05T11:28:50Z</cp:lastPrinted>
  <dcterms:modified xsi:type="dcterms:W3CDTF">2026-10-05T11:30:35Z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